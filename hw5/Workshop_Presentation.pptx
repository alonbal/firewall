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9" autoAdjust="0"/>
    <p:restoredTop sz="94660"/>
  </p:normalViewPr>
  <p:slideViewPr>
    <p:cSldViewPr snapToGrid="0">
      <p:cViewPr varScale="1">
        <p:scale>
          <a:sx n="51" d="100"/>
          <a:sy n="51" d="100"/>
        </p:scale>
        <p:origin x="58" y="6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58E14-23EC-4C25-974C-48FA839886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3" cy="507422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FEDD4-20A1-49F6-9E3E-0B26B426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62167" y="3602038"/>
            <a:ext cx="5021183" cy="224458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0A32F-E6F3-4C2E-B9E3-E47868E42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1A759-BFF8-4B5B-9ECE-D93AC303B331}" type="datetime1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06724-A87A-4231-BFD9-277482AF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0D1AF-36B8-4BB8-BD6A-71194F7BC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FF94B3-6D3E-44FE-BB02-A9027C00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86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63D8A-C68D-4CF9-9D15-3E09BCC09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4D94C-E537-4FF3-AAF8-A85F05C31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4B1D4-6731-4993-8609-16C1D332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AB316-A2E6-49F2-825C-64AA951E4184}" type="datetime1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B7BBD-CEEB-4256-84B2-6D907E11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2A8B7-F430-4F4A-BB63-481F51E58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83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BAC1C-A332-4BA5-8C9C-FE0396C8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056" cy="4870974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8D137-710E-4125-B5E9-F63E7F1C9C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7" y="3566639"/>
            <a:ext cx="5021183" cy="2279979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480C5-E9A6-425E-B050-03E444BE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748B-ADD6-4C5A-8C2A-A39721276E74}" type="datetime1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B4831-6C0B-4E0B-A341-91E4C5D3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11EE6-252D-46DD-94DF-C42657EF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276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04B06-C54A-4B7B-B6D1-436428EA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52076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23919-9A2F-4D97-8F31-6E35BD597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63049" y="969264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DA345-F684-4BAA-A22C-E725B3A60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63049" y="3621849"/>
            <a:ext cx="5290751" cy="25551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99C52-9753-45D8-9646-CF31BB015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41FB0F-3C5C-4949-B933-9C7E511ED094}" type="datetime1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95E57-622C-4199-940E-F5462E1A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B7592-00E8-41EF-B749-2A5EA8E46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31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291277-967B-4176-B40B-9EC360626994}"/>
              </a:ext>
            </a:extLst>
          </p:cNvPr>
          <p:cNvSpPr/>
          <p:nvPr/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11C00-F7CB-4484-807A-D12745CD3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978119"/>
            <a:ext cx="11165481" cy="10730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AAA6E-E243-48B3-9585-3C1420B3E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7870" y="2178908"/>
            <a:ext cx="5020056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D01B8-0F2E-41A4-B21C-334393F6A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7870" y="2876085"/>
            <a:ext cx="5020056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9B23F-3E60-415A-9CE7-0928B5CFB2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2168" y="2178908"/>
            <a:ext cx="5021182" cy="65490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23446-0CDC-402B-8D71-D9D29F6DF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62168" y="2876085"/>
            <a:ext cx="5021182" cy="33228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B77D3-C6EC-4FFD-9E10-24E1AC542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7870" y="6420414"/>
            <a:ext cx="2743200" cy="365125"/>
          </a:xfrm>
        </p:spPr>
        <p:txBody>
          <a:bodyPr/>
          <a:lstStyle/>
          <a:p>
            <a:fld id="{C2F01D58-E949-4BCB-829A-BBF80E38D59C}" type="datetime1">
              <a:rPr lang="en-US" smtClean="0"/>
              <a:t>3/6/2025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9DF31B-BD07-4DC2-95C2-B77E51AAE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54CE5A-3A0A-4AAB-81D2-F1C2063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6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216B8-52AB-412B-BBE7-B6BE698F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F779C3-9D19-467E-A5D2-0920834D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0A846-0DA4-4D92-9BF1-DE8C52C1F4DF}" type="datetime1">
              <a:rPr lang="en-US" smtClean="0"/>
              <a:t>3/6/2025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72BB4-C8D8-4F74-9677-5AC97993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B49B8-779F-4492-ABD9-96F0D042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40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B976BF-9339-48D6-881A-280D15492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12331-4A9C-472F-A7FA-968157338839}" type="datetime1">
              <a:rPr lang="en-US" smtClean="0"/>
              <a:t>3/6/2025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277605-C9C8-432E-9662-D7D410B15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432B6-4A12-46EF-98A7-B5D50BD5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004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F191C-AF68-4230-A7B2-F8F07B486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F9F11-5FCF-4D7E-BA51-38CB84277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3182" y="987423"/>
            <a:ext cx="502094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3B519B-06C0-41BC-95FB-FB1FE4363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61038"/>
            <a:ext cx="5020948" cy="2507949"/>
          </a:xfrm>
        </p:spPr>
        <p:txBody>
          <a:bodyPr>
            <a:normAutofit/>
          </a:bodyPr>
          <a:lstStyle>
            <a:lvl1pPr marL="0" indent="0">
              <a:buNone/>
              <a:defRPr sz="24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B8B70C-015C-4832-AFF6-D033E0227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97F3D-ED52-43FD-A26D-318B71534485}" type="datetime1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1A6FB-8C14-46D1-90A5-0FF11DE7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82C585-6FA1-4E94-9C1C-A1DEDE55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73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98B43-D1CE-43F4-A367-EF1FE968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0948" cy="2270641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B73978-8CDF-4C0E-ABA1-7291A034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62168" y="987425"/>
            <a:ext cx="5027005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ECC62-ED45-451E-BEC5-A03C6A554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7870" y="3340442"/>
            <a:ext cx="5020948" cy="2528545"/>
          </a:xfrm>
        </p:spPr>
        <p:txBody>
          <a:bodyPr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1A7A86-B983-4315-9312-936B4FCF7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91FA4-6264-4BB8-B3B5-77711EED2D82}" type="datetime1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E88C0-25A5-46F9-AB35-EAD50E6B9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F9EA8-45AD-478E-8606-9328245B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76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F6B8E-1D8E-4105-9BBB-D53AD24B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25530-6629-4FEA-9670-EB21A2F5B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64C7A-A73F-46F5-BC33-696671DA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DF398-5DA3-4937-BE3F-7CA1B9158252}" type="datetime1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B3CC0-B649-4509-A4B6-DF9D20EFA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ECCCA-3F2A-46F3-BF45-7C862FF1D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3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0133B-2446-4168-AA17-653891066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62168" y="996791"/>
            <a:ext cx="5011962" cy="49569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06A9AD-2756-4C51-A958-6756301EB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7870" y="996791"/>
            <a:ext cx="5021183" cy="4956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995D-CCEA-43AF-973B-8B6B56A56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1ED9-F929-4A92-90F9-3C9C84ABBE83}" type="datetime1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029CF-BA62-4CCD-956E-FFA0B37B8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0B3D-96AB-41B3-ABDD-5B0DE863D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18136A-0796-46EB-89BB-4C73C0258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915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61AD20-E240-4E6F-AF91-689F7AEEE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70" y="978408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78801-35D1-4C19-BC2B-EAC7EE917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2168" y="969264"/>
            <a:ext cx="5021182" cy="487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82A45-C5B9-4575-8E28-A35767B4D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7870" y="64204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7F6A1D9-D323-4F4E-8655-25E2D32CE742}" type="datetime1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D0933-AA03-4018-8E37-004CFB9F6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7870" y="9771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282A-DF4A-4A2D-9672-8F0F770A3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4317" y="6420414"/>
            <a:ext cx="6379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E57300-C7FF-4578-99A0-42B0295B123C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8F8250-7A81-4A19-87AD-FFB2CE4E39A5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9F38FC-2DEA-2647-C409-EF75720C1017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indent="-27432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630BF219-D4F1-A052-ECB7-6F3EADAB434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0"/>
          <a:stretch/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1F3E34-7BEC-6D59-2CC3-0C2FC8E273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334248"/>
          </a:xfrm>
        </p:spPr>
        <p:txBody>
          <a:bodyPr anchor="t"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Workshop in Information Security</a:t>
            </a:r>
            <a:endParaRPr lang="en-IL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CDD19A-46C2-EDF0-D39C-1BEAC8FF1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Alon Balassiano</a:t>
            </a:r>
            <a:endParaRPr lang="en-IL" dirty="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912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50E5A-D75C-C69C-6C94-0E74F09B9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1B190FC-996A-0FD1-F1B6-FD006A0330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0"/>
          <a:stretch/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85CBB01-7E37-CC3B-7333-3B6A01668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334248"/>
          </a:xfrm>
        </p:spPr>
        <p:txBody>
          <a:bodyPr anchor="t">
            <a:normAutofit/>
          </a:bodyPr>
          <a:lstStyle/>
          <a:p>
            <a:r>
              <a:rPr lang="en-US" dirty="0"/>
              <a:t>IPS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002EE-9CD5-E5E6-3E91-91252C4BE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 dirty="0"/>
              <a:t>WordPress Really Simple SSL Plugin Authentication Bypass to RCE</a:t>
            </a:r>
            <a:endParaRPr lang="en-IL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549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C91D93-014B-66D5-D263-730212C94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0BC347-BF2D-069B-F73A-F591311D7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WordPress Really Simple SSL Plugin Authentication Bypass to 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6196-C3D5-E479-E83A-0DB0CEA0C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Wordpress</a:t>
            </a:r>
            <a:r>
              <a:rPr lang="en-US" sz="2400" dirty="0"/>
              <a:t> – A web content management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Really Simple SSL – A </a:t>
            </a:r>
            <a:r>
              <a:rPr lang="en-US" sz="2400" dirty="0" err="1"/>
              <a:t>Wordpress</a:t>
            </a:r>
            <a:r>
              <a:rPr lang="en-US" sz="2400" dirty="0"/>
              <a:t> security plugin, offering 2FA (two-factor authentication) as one of its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RCE (Remote code execution) – Allows an attacker to execute malware or even gain full control over the vulnerable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2FA bypass – A vulnerability that allows attackers to bypass the 2FA mechanism.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68B8C9-6702-8441-0D92-220DE92C8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873252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08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8E556-99EC-B8CB-D6A0-F814C296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BBF86-544B-F8FC-4FC9-A350E3C8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en-US" sz="4400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25419-1677-BFFF-9B72-3A1CFAD81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attacker accesses the ‘/</a:t>
            </a:r>
            <a:r>
              <a:rPr lang="en-US" sz="2400" dirty="0" err="1"/>
              <a:t>reallysimplessl</a:t>
            </a:r>
            <a:r>
              <a:rPr lang="en-US" sz="2400" dirty="0"/>
              <a:t>/v1/</a:t>
            </a:r>
            <a:r>
              <a:rPr lang="en-US" sz="2400" dirty="0" err="1"/>
              <a:t>two_fa</a:t>
            </a:r>
            <a:r>
              <a:rPr lang="en-US" sz="2400" dirty="0"/>
              <a:t>/</a:t>
            </a:r>
            <a:r>
              <a:rPr lang="en-US" sz="2400" dirty="0" err="1"/>
              <a:t>skip_onboarding</a:t>
            </a:r>
            <a:r>
              <a:rPr lang="en-US" sz="2400" dirty="0"/>
              <a:t>’ route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following function is invoked: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function verifies the user using  </a:t>
            </a:r>
            <a:r>
              <a:rPr lang="en-US" sz="2400" dirty="0" err="1"/>
              <a:t>check_login_and_get_user</a:t>
            </a:r>
            <a:r>
              <a:rPr lang="en-US" sz="2400" dirty="0"/>
              <a:t> function.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7DDE97-E717-8A47-202D-4845DB45F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33" y="4025049"/>
            <a:ext cx="8686800" cy="132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106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51E39-8CB9-67D4-29CC-60601A21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2DAF1-4228-C8D3-CE10-54CD62E05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en-US" sz="4400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E907C-5706-6FB0-9935-5EA3C9CB1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function validates users using the user ID and </a:t>
            </a:r>
            <a:r>
              <a:rPr lang="en-US" sz="2400" dirty="0" err="1"/>
              <a:t>login_nonce</a:t>
            </a:r>
            <a:r>
              <a:rPr lang="en-US" sz="2400" dirty="0"/>
              <a:t> provided by the server.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7D8A81-D92D-8D4C-D991-30E7103D0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20" y="2273808"/>
            <a:ext cx="8000496" cy="288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28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FB2D4-1CBF-92F0-DF68-DC5B1A39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BC2CC-4883-2F56-24AC-FE873F0BE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en-US" sz="4400" dirty="0"/>
              <a:t>Vulnerability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C1159-24AA-0E3C-0C02-11883A434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When given an invalid </a:t>
            </a:r>
            <a:r>
              <a:rPr lang="en-US" sz="2400" dirty="0" err="1"/>
              <a:t>login_nonce</a:t>
            </a:r>
            <a:r>
              <a:rPr lang="en-US" sz="2400" dirty="0"/>
              <a:t> parameter, </a:t>
            </a:r>
            <a:r>
              <a:rPr lang="en-US" sz="2400" dirty="0" err="1"/>
              <a:t>check_login_and_get_user</a:t>
            </a:r>
            <a:r>
              <a:rPr lang="en-US" sz="2400" dirty="0"/>
              <a:t> returns an error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function </a:t>
            </a:r>
            <a:r>
              <a:rPr lang="en-US" sz="2400" dirty="0" err="1"/>
              <a:t>skip_onbarding</a:t>
            </a:r>
            <a:r>
              <a:rPr lang="en-US" sz="2400" dirty="0"/>
              <a:t> does not handle this case and invokes authentication anyway.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Unauthenticated users can bypass 2FA using an invalid </a:t>
            </a:r>
            <a:r>
              <a:rPr lang="en-US" sz="2400" dirty="0" err="1"/>
              <a:t>login_nonce</a:t>
            </a:r>
            <a:r>
              <a:rPr lang="en-US" sz="2400" dirty="0"/>
              <a:t> and any </a:t>
            </a:r>
            <a:r>
              <a:rPr lang="en-US" sz="2400" dirty="0" err="1"/>
              <a:t>user_id</a:t>
            </a:r>
            <a:r>
              <a:rPr lang="en-US" sz="2400" dirty="0"/>
              <a:t> (even administrators)!</a:t>
            </a:r>
          </a:p>
        </p:txBody>
      </p:sp>
    </p:spTree>
    <p:extLst>
      <p:ext uri="{BB962C8B-B14F-4D97-AF65-F5344CB8AC3E}">
        <p14:creationId xmlns:p14="http://schemas.microsoft.com/office/powerpoint/2010/main" val="1672993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B9921-794A-8E87-8E3C-55DA1BD25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62C76-9585-E280-205D-9FB9CEEA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en-US" sz="4400" dirty="0"/>
              <a:t>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4B715-8E56-40AD-3E6E-B43BF8B0A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</a:t>
            </a:r>
            <a:r>
              <a:rPr lang="en-US" sz="2400" dirty="0" err="1"/>
              <a:t>check_login_and_get_user</a:t>
            </a:r>
            <a:r>
              <a:rPr lang="en-US" sz="2400" dirty="0"/>
              <a:t>, an error is thrown if </a:t>
            </a:r>
            <a:r>
              <a:rPr lang="en-US" sz="2400" dirty="0" err="1"/>
              <a:t>login_nonce</a:t>
            </a:r>
            <a:r>
              <a:rPr lang="en-US" sz="2400" dirty="0"/>
              <a:t> is invalid.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4B0871-0531-2D32-10DE-CE87B169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374" y="3518182"/>
            <a:ext cx="6685136" cy="3213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92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3C47D-A186-A204-5C38-B1D9836F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1AC9-36DF-5741-1575-90679155D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en-US" sz="4400" dirty="0"/>
              <a:t>Fix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A2ABC-F9C3-BE13-364A-83203D264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function </a:t>
            </a:r>
            <a:r>
              <a:rPr lang="en-US" sz="2400" dirty="0" err="1"/>
              <a:t>skip_onboarding</a:t>
            </a:r>
            <a:r>
              <a:rPr lang="en-US" sz="2400" dirty="0"/>
              <a:t> now catches the exception and returns an error response instead of invoking </a:t>
            </a:r>
            <a:r>
              <a:rPr lang="en-US" sz="2400" dirty="0" err="1"/>
              <a:t>authenticate_and_redirect</a:t>
            </a:r>
            <a:r>
              <a:rPr lang="en-US" sz="2400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BF5F14-566B-B8A7-699F-4BA310F62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719" y="4272218"/>
            <a:ext cx="7747098" cy="2073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506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DDE97-344F-F397-E07F-C76E21F6E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3CBE6-076F-AB23-B831-D62D93226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en-US" sz="4400" dirty="0"/>
              <a:t>Firewall Protection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A5A02-F8F4-9BC2-66EB-15F4EE315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need to prevent access to the vulnerable route when an invalid </a:t>
            </a:r>
            <a:r>
              <a:rPr lang="en-US" sz="2400" dirty="0" err="1"/>
              <a:t>login_nonce</a:t>
            </a:r>
            <a:r>
              <a:rPr lang="en-US" sz="2400" dirty="0"/>
              <a:t> is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firewall monitors traffic:</a:t>
            </a:r>
          </a:p>
          <a:p>
            <a:pPr marL="560070" lvl="1" indent="-285750"/>
            <a:r>
              <a:rPr lang="en-US" sz="2200" dirty="0"/>
              <a:t>If the server sends a </a:t>
            </a:r>
            <a:r>
              <a:rPr lang="en-US" sz="2200" dirty="0" err="1"/>
              <a:t>login_nonce</a:t>
            </a:r>
            <a:r>
              <a:rPr lang="en-US" sz="2200" dirty="0"/>
              <a:t> to the client, we store it.</a:t>
            </a:r>
          </a:p>
          <a:p>
            <a:pPr marL="560070" lvl="1" indent="-285750"/>
            <a:r>
              <a:rPr lang="en-US" sz="2200" dirty="0"/>
              <a:t>When a user accesses the vulnerable route, we verify the nonce against the stored value.</a:t>
            </a:r>
          </a:p>
        </p:txBody>
      </p:sp>
    </p:spTree>
    <p:extLst>
      <p:ext uri="{BB962C8B-B14F-4D97-AF65-F5344CB8AC3E}">
        <p14:creationId xmlns:p14="http://schemas.microsoft.com/office/powerpoint/2010/main" val="3300503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FBF26-9F4F-4BDA-D95C-276AABDD8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A591BFA7-1D2F-F9F7-5328-34479DD3DE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0"/>
          <a:stretch/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6DE36C-04F0-D338-8F66-717818F21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334248"/>
          </a:xfrm>
        </p:spPr>
        <p:txBody>
          <a:bodyPr anchor="t">
            <a:normAutofit/>
          </a:bodyPr>
          <a:lstStyle/>
          <a:p>
            <a:r>
              <a:rPr lang="en-US" dirty="0"/>
              <a:t>DLP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46C43-1E50-0AEB-771F-4AA4874911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 dirty="0"/>
              <a:t>Detecting C code</a:t>
            </a:r>
            <a:endParaRPr lang="en-IL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258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55BDF-1A18-1156-2C93-D53602594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18EAE-796A-A92B-8E3B-0F382E0AD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en-US" sz="4400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9CE07-C5EF-59FA-4C6E-6743D2968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 code differs from natural language texts in many features: structure, syntax, vocabulary etc.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One key observation:</a:t>
            </a:r>
          </a:p>
          <a:p>
            <a:pPr marL="560070" lvl="1" indent="-285750"/>
            <a:r>
              <a:rPr lang="en-US" sz="2200" dirty="0"/>
              <a:t>Natural language mainly consists of alphabets, punctuation marks and whitespaces.</a:t>
            </a:r>
          </a:p>
          <a:p>
            <a:pPr marL="560070" lvl="1" indent="-285750"/>
            <a:r>
              <a:rPr lang="en-US" sz="2200" dirty="0"/>
              <a:t>C code heavily uses special symbols in addition to these.</a:t>
            </a:r>
          </a:p>
        </p:txBody>
      </p:sp>
    </p:spTree>
    <p:extLst>
      <p:ext uri="{BB962C8B-B14F-4D97-AF65-F5344CB8AC3E}">
        <p14:creationId xmlns:p14="http://schemas.microsoft.com/office/powerpoint/2010/main" val="2324459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C3A74-6452-B5FA-76D7-D0A7C4B7F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6A0D-AF15-14C0-E348-D982BE8E2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en-US" sz="4400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83C46-D42B-C5AF-48A7-E571A32D2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identify special characters that are frequently used in C code but rarely appear in regular text.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analyze their frequency in both cases and determine the likelihood of a given text being C code.</a:t>
            </a:r>
          </a:p>
        </p:txBody>
      </p:sp>
    </p:spTree>
    <p:extLst>
      <p:ext uri="{BB962C8B-B14F-4D97-AF65-F5344CB8AC3E}">
        <p14:creationId xmlns:p14="http://schemas.microsoft.com/office/powerpoint/2010/main" val="104279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CFCA0-3AF3-1319-A6DF-97540660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28830-44A0-09EC-C37A-88476724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en-US" sz="4400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F51159-18C5-C50B-FDC5-AFB927BE3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After analyzing about 22,000 C files (including code and header files) from the Linux kernel, and 1,000 books from Project Gutenberg (an online library), I counted the occurrences of each character and compared their distribution.</a:t>
            </a:r>
          </a:p>
        </p:txBody>
      </p:sp>
    </p:spTree>
    <p:extLst>
      <p:ext uri="{BB962C8B-B14F-4D97-AF65-F5344CB8AC3E}">
        <p14:creationId xmlns:p14="http://schemas.microsoft.com/office/powerpoint/2010/main" val="3779467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F1C07-923B-EC8B-3ECD-E55EF6E90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E724D-1881-833C-BC7E-E9BFDA701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en-US" sz="44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3ECA3-6E59-A729-FC1B-C2780CAC6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following chart shows </a:t>
            </a:r>
            <a:br>
              <a:rPr lang="en-US" sz="2400" dirty="0"/>
            </a:br>
            <a:r>
              <a:rPr lang="en-US" sz="2400" dirty="0"/>
              <a:t>the special characters used for </a:t>
            </a:r>
            <a:br>
              <a:rPr lang="en-US" sz="2400" dirty="0"/>
            </a:br>
            <a:r>
              <a:rPr lang="en-US" sz="2400" dirty="0"/>
              <a:t>comparison and their frequency </a:t>
            </a:r>
            <a:br>
              <a:rPr lang="en-US" sz="2400" dirty="0"/>
            </a:br>
            <a:r>
              <a:rPr lang="en-US" sz="2400" dirty="0"/>
              <a:t>in both C code and textbooks.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These were the characters</a:t>
            </a:r>
            <a:br>
              <a:rPr lang="en-US" sz="2400" dirty="0"/>
            </a:br>
            <a:r>
              <a:rPr lang="en-US" sz="2400" dirty="0"/>
              <a:t>with a ratio greater than 5</a:t>
            </a:r>
            <a:br>
              <a:rPr lang="en-US" sz="2400" dirty="0"/>
            </a:br>
            <a:r>
              <a:rPr lang="en-US" sz="2400" dirty="0"/>
              <a:t>(i.e., appearing significantly </a:t>
            </a:r>
            <a:br>
              <a:rPr lang="en-US" sz="2400" dirty="0"/>
            </a:br>
            <a:r>
              <a:rPr lang="en-US" sz="2400" dirty="0"/>
              <a:t>more in C code than in text).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CE03E8-353C-3AA5-BC96-8EAE3AEAA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572696"/>
              </p:ext>
            </p:extLst>
          </p:nvPr>
        </p:nvGraphicFramePr>
        <p:xfrm>
          <a:off x="6096000" y="2578608"/>
          <a:ext cx="4178710" cy="3625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4605">
                  <a:extLst>
                    <a:ext uri="{9D8B030D-6E8A-4147-A177-3AD203B41FA5}">
                      <a16:colId xmlns:a16="http://schemas.microsoft.com/office/drawing/2014/main" val="2275567057"/>
                    </a:ext>
                  </a:extLst>
                </a:gridCol>
                <a:gridCol w="959489">
                  <a:extLst>
                    <a:ext uri="{9D8B030D-6E8A-4147-A177-3AD203B41FA5}">
                      <a16:colId xmlns:a16="http://schemas.microsoft.com/office/drawing/2014/main" val="3290072620"/>
                    </a:ext>
                  </a:extLst>
                </a:gridCol>
                <a:gridCol w="1040194">
                  <a:extLst>
                    <a:ext uri="{9D8B030D-6E8A-4147-A177-3AD203B41FA5}">
                      <a16:colId xmlns:a16="http://schemas.microsoft.com/office/drawing/2014/main" val="1543304391"/>
                    </a:ext>
                  </a:extLst>
                </a:gridCol>
                <a:gridCol w="1524422">
                  <a:extLst>
                    <a:ext uri="{9D8B030D-6E8A-4147-A177-3AD203B41FA5}">
                      <a16:colId xmlns:a16="http://schemas.microsoft.com/office/drawing/2014/main" val="3095315587"/>
                    </a:ext>
                  </a:extLst>
                </a:gridCol>
              </a:tblGrid>
              <a:tr h="2273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char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c code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text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ratio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77635471"/>
                  </a:ext>
                </a:extLst>
              </a:tr>
              <a:tr h="218241"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#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0.007964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0.000065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122.52307692308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69669101"/>
                  </a:ext>
                </a:extLst>
              </a:tr>
              <a:tr h="218241"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(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0.009173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0.001205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7.61244813278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987452296"/>
                  </a:ext>
                </a:extLst>
              </a:tr>
              <a:tr h="218241"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)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0.009183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0.001206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7.61442786070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72212837"/>
                  </a:ext>
                </a:extLst>
              </a:tr>
              <a:tr h="218241"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*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0.017301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0.000522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33.14367816092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70187414"/>
                  </a:ext>
                </a:extLst>
              </a:tr>
              <a:tr h="218241"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+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0.000629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0.000087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7.22988505747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23058476"/>
                  </a:ext>
                </a:extLst>
              </a:tr>
              <a:tr h="218241"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=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 dirty="0">
                          <a:effectLst/>
                        </a:rPr>
                        <a:t>0.002231</a:t>
                      </a:r>
                      <a:endParaRPr lang="en-I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 dirty="0">
                          <a:effectLst/>
                        </a:rPr>
                        <a:t>0.000236</a:t>
                      </a:r>
                      <a:endParaRPr lang="en-I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9.45338983051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24526880"/>
                  </a:ext>
                </a:extLst>
              </a:tr>
              <a:tr h="218241"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@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0.000878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0.00001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87.80000000000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44691994"/>
                  </a:ext>
                </a:extLst>
              </a:tr>
              <a:tr h="218241"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\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0.001402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0.000109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12.86238532110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60028731"/>
                  </a:ext>
                </a:extLst>
              </a:tr>
              <a:tr h="218241"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^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0.000025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 dirty="0">
                          <a:effectLst/>
                        </a:rPr>
                        <a:t>0.000004</a:t>
                      </a:r>
                      <a:endParaRPr lang="en-I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6.25000000000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4201961"/>
                  </a:ext>
                </a:extLst>
              </a:tr>
              <a:tr h="218241"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_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0.051688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0.000399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129.54385964912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43213698"/>
                  </a:ext>
                </a:extLst>
              </a:tr>
              <a:tr h="218241"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{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 dirty="0">
                          <a:effectLst/>
                        </a:rPr>
                        <a:t>0.001397</a:t>
                      </a:r>
                      <a:endParaRPr lang="en-I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0.000036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38.80555555556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8370464"/>
                  </a:ext>
                </a:extLst>
              </a:tr>
              <a:tr h="218241"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|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0.00055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0.000067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8.20895522388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3560528"/>
                  </a:ext>
                </a:extLst>
              </a:tr>
              <a:tr h="218241"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}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0.001397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0.000036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 dirty="0">
                          <a:effectLst/>
                        </a:rPr>
                        <a:t>38.80555555556</a:t>
                      </a:r>
                      <a:endParaRPr lang="en-I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390348996"/>
                  </a:ext>
                </a:extLst>
              </a:tr>
              <a:tr h="218241"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~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0.000078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0.000001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>
                          <a:effectLst/>
                        </a:rPr>
                        <a:t>78.00000000000</a:t>
                      </a:r>
                      <a:endParaRPr lang="en-IL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85035294"/>
                  </a:ext>
                </a:extLst>
              </a:tr>
              <a:tr h="22733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Total fraction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 dirty="0">
                          <a:effectLst/>
                        </a:rPr>
                        <a:t>0.103896</a:t>
                      </a:r>
                      <a:endParaRPr lang="en-I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 dirty="0">
                          <a:effectLst/>
                        </a:rPr>
                        <a:t>0.003983</a:t>
                      </a:r>
                      <a:endParaRPr lang="en-I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L" sz="1100" u="none" strike="noStrike" dirty="0">
                          <a:effectLst/>
                        </a:rPr>
                        <a:t> </a:t>
                      </a:r>
                      <a:endParaRPr lang="en-IL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49619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087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3856B-B53F-9640-C8DA-500F4761A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7833A-5025-18B0-B798-FB687E752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8" y="976160"/>
            <a:ext cx="8686800" cy="1463040"/>
          </a:xfrm>
        </p:spPr>
        <p:txBody>
          <a:bodyPr>
            <a:normAutofit/>
          </a:bodyPr>
          <a:lstStyle/>
          <a:p>
            <a:r>
              <a:rPr lang="en-US" sz="4400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4BA99-42BF-7E16-45FD-7D126E580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870" y="2578608"/>
            <a:ext cx="8686800" cy="376732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My DLP system in the firewall counts the frequency of special characters in raw data sent by the client via HTTP and SMTP.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 Based on the previous analysis:</a:t>
            </a:r>
          </a:p>
          <a:p>
            <a:pPr marL="560070" lvl="1" indent="-285750"/>
            <a:r>
              <a:rPr lang="en-US" sz="2200" dirty="0"/>
              <a:t>Data containing more than 0.02 fraction of special characters</a:t>
            </a:r>
            <a:br>
              <a:rPr lang="en-US" sz="2200" dirty="0"/>
            </a:br>
            <a:r>
              <a:rPr lang="en-US" sz="2200" dirty="0"/>
              <a:t>(the geometric mean of both fractions above) is classified as C code.</a:t>
            </a:r>
          </a:p>
          <a:p>
            <a:pPr marL="560070" lvl="1" indent="-285750"/>
            <a:r>
              <a:rPr lang="en-US" sz="2200" dirty="0"/>
              <a:t>The firewall blocks such data to prevent leakage of source code.</a:t>
            </a:r>
          </a:p>
        </p:txBody>
      </p:sp>
    </p:spTree>
    <p:extLst>
      <p:ext uri="{BB962C8B-B14F-4D97-AF65-F5344CB8AC3E}">
        <p14:creationId xmlns:p14="http://schemas.microsoft.com/office/powerpoint/2010/main" val="156419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453A8-2C90-A65C-707A-3F4B865CC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D552CE17-2DC7-07FB-AFEF-60F5138553F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730"/>
          <a:stretch/>
        </p:blipFill>
        <p:spPr>
          <a:xfrm>
            <a:off x="-1" y="-13410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1008377-B972-5952-BF9E-B669434E2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334248"/>
          </a:xfrm>
        </p:spPr>
        <p:txBody>
          <a:bodyPr anchor="t">
            <a:normAutofit/>
          </a:bodyPr>
          <a:lstStyle/>
          <a:p>
            <a:r>
              <a:rPr lang="en-US" dirty="0"/>
              <a:t>Thank You!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A50863-D6D4-5F48-D2B5-3D2F4A2E56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r>
              <a:rPr lang="en-US" sz="2400" dirty="0"/>
              <a:t>Any questions?</a:t>
            </a:r>
            <a:endParaRPr lang="en-IL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58551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Custom 86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Bierstad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3254</TotalTime>
  <Words>642</Words>
  <Application>Microsoft Office PowerPoint</Application>
  <PresentationFormat>Widescreen</PresentationFormat>
  <Paragraphs>122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 Narrow</vt:lpstr>
      <vt:lpstr>Arial</vt:lpstr>
      <vt:lpstr>Bierstadt</vt:lpstr>
      <vt:lpstr>GestaltVTI</vt:lpstr>
      <vt:lpstr>Workshop in Information Security</vt:lpstr>
      <vt:lpstr>IPS</vt:lpstr>
      <vt:lpstr>WordPress Really Simple SSL Plugin Authentication Bypass to RCE</vt:lpstr>
      <vt:lpstr>How it works</vt:lpstr>
      <vt:lpstr>How it works</vt:lpstr>
      <vt:lpstr>Vulnerability</vt:lpstr>
      <vt:lpstr>Fix</vt:lpstr>
      <vt:lpstr>Fix</vt:lpstr>
      <vt:lpstr>Firewall Protection</vt:lpstr>
      <vt:lpstr>DLP</vt:lpstr>
      <vt:lpstr>Approach</vt:lpstr>
      <vt:lpstr>Approach</vt:lpstr>
      <vt:lpstr>Analysis</vt:lpstr>
      <vt:lpstr>Conclusion</vt:lpstr>
      <vt:lpstr>Implementation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Alon Balassiano</dc:creator>
  <cp:lastModifiedBy>Alon Balassiano</cp:lastModifiedBy>
  <cp:revision>24</cp:revision>
  <dcterms:created xsi:type="dcterms:W3CDTF">2025-03-05T06:08:40Z</dcterms:created>
  <dcterms:modified xsi:type="dcterms:W3CDTF">2025-03-07T12:23:05Z</dcterms:modified>
</cp:coreProperties>
</file>